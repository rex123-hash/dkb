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4b87a2b71147e1" /><Relationship Type="http://schemas.openxmlformats.org/officeDocument/2006/relationships/extended-properties" Target="/docProps/app.xml" Id="R7f96c59f157249ec" /><Relationship Type="http://schemas.openxmlformats.org/officeDocument/2006/relationships/officeDocument" Target="/ppt/presentation.xml" Id="R3fbf6fb3b99d42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ee34c19bd74a94"/>
  </p:sldMasterIdLst>
  <p:notesMasterIdLst>
    <p:notesMasterId xmlns:r="http://schemas.openxmlformats.org/officeDocument/2006/relationships" r:id="R96a0b222fe7e4f07"/>
  </p:notesMasterIdLst>
  <p:sldIdLst>
    <p:sldId xmlns:r="http://schemas.openxmlformats.org/officeDocument/2006/relationships" id="256" r:id="Ra74c65a3a32a4fe1"/>
    <p:sldId xmlns:r="http://schemas.openxmlformats.org/officeDocument/2006/relationships" id="257" r:id="R4d35a3b15de14996"/>
    <p:sldId xmlns:r="http://schemas.openxmlformats.org/officeDocument/2006/relationships" id="258" r:id="Rd899051e40fe42ef"/>
    <p:sldId xmlns:r="http://schemas.openxmlformats.org/officeDocument/2006/relationships" id="259" r:id="R4cf20e75702c47b9"/>
    <p:sldId xmlns:r="http://schemas.openxmlformats.org/officeDocument/2006/relationships" id="260" r:id="Rb5d98141c3b04e02"/>
    <p:sldId xmlns:r="http://schemas.openxmlformats.org/officeDocument/2006/relationships" id="261" r:id="R0164582d37df4277"/>
    <p:sldId xmlns:r="http://schemas.openxmlformats.org/officeDocument/2006/relationships" id="262" r:id="Rfbb0f689b8774272"/>
    <p:sldId xmlns:r="http://schemas.openxmlformats.org/officeDocument/2006/relationships" id="263" r:id="R73f4335c94fd4f2c"/>
    <p:sldId xmlns:r="http://schemas.openxmlformats.org/officeDocument/2006/relationships" id="264" r:id="R016a1a67fd274464"/>
    <p:sldId xmlns:r="http://schemas.openxmlformats.org/officeDocument/2006/relationships" id="265" r:id="R74dc2a5e7cb246c7"/>
    <p:sldId xmlns:r="http://schemas.openxmlformats.org/officeDocument/2006/relationships" id="266" r:id="R6aba4c50ae5e4ca1"/>
    <p:sldId xmlns:r="http://schemas.openxmlformats.org/officeDocument/2006/relationships" id="267" r:id="R3edc29ca42ef42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3839c86e8041d9" /><Relationship Type="http://schemas.openxmlformats.org/officeDocument/2006/relationships/slideMaster" Target="/ppt/slideMasters/slideMaster1.xml" Id="R97ee34c19bd74a94" /><Relationship Type="http://schemas.openxmlformats.org/officeDocument/2006/relationships/notesMaster" Target="/ppt/notesMasters/notesMaster1.xml" Id="R96a0b222fe7e4f07" /><Relationship Type="http://schemas.openxmlformats.org/officeDocument/2006/relationships/presProps" Target="/ppt/presProps.xml" Id="R0d10c6ef9c0b47f1" /><Relationship Type="http://schemas.openxmlformats.org/officeDocument/2006/relationships/tableStyles" Target="/ppt/tableStyles.xml" Id="Rb86b4e9dc0324d1e" /><Relationship Type="http://schemas.openxmlformats.org/officeDocument/2006/relationships/slide" Target="/ppt/slides/slide1.xml" Id="Ra74c65a3a32a4fe1" /><Relationship Type="http://schemas.openxmlformats.org/officeDocument/2006/relationships/slide" Target="/ppt/slides/slide2.xml" Id="R4d35a3b15de14996" /><Relationship Type="http://schemas.openxmlformats.org/officeDocument/2006/relationships/slide" Target="/ppt/slides/slide3.xml" Id="Rd899051e40fe42ef" /><Relationship Type="http://schemas.openxmlformats.org/officeDocument/2006/relationships/slide" Target="/ppt/slides/slide4.xml" Id="R4cf20e75702c47b9" /><Relationship Type="http://schemas.openxmlformats.org/officeDocument/2006/relationships/slide" Target="/ppt/slides/slide5.xml" Id="Rb5d98141c3b04e02" /><Relationship Type="http://schemas.openxmlformats.org/officeDocument/2006/relationships/slide" Target="/ppt/slides/slide6.xml" Id="R0164582d37df4277" /><Relationship Type="http://schemas.openxmlformats.org/officeDocument/2006/relationships/slide" Target="/ppt/slides/slide7.xml" Id="Rfbb0f689b8774272" /><Relationship Type="http://schemas.openxmlformats.org/officeDocument/2006/relationships/slide" Target="/ppt/slides/slide8.xml" Id="R73f4335c94fd4f2c" /><Relationship Type="http://schemas.openxmlformats.org/officeDocument/2006/relationships/slide" Target="/ppt/slides/slide9.xml" Id="R016a1a67fd274464" /><Relationship Type="http://schemas.openxmlformats.org/officeDocument/2006/relationships/slide" Target="/ppt/slides/slide10.xml" Id="R74dc2a5e7cb246c7" /><Relationship Type="http://schemas.openxmlformats.org/officeDocument/2006/relationships/slide" Target="/ppt/slides/slide11.xml" Id="R6aba4c50ae5e4ca1" /><Relationship Type="http://schemas.openxmlformats.org/officeDocument/2006/relationships/slide" Target="/ppt/slides/slide12.xml" Id="R3edc29ca42ef42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b4448d804842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793f783bad4e60" /><Relationship Type="http://schemas.openxmlformats.org/officeDocument/2006/relationships/notesMaster" Target="/ppt/notesMasters/notesMaster1.xml" Id="Rbf66c1c5d52c4e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21c2a9da784c7a" /><Relationship Type="http://schemas.openxmlformats.org/officeDocument/2006/relationships/notesMaster" Target="/ppt/notesMasters/notesMaster1.xml" Id="Rfe4b25e8f1934c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9d2408e3a74bf1" /><Relationship Type="http://schemas.openxmlformats.org/officeDocument/2006/relationships/notesMaster" Target="/ppt/notesMasters/notesMaster1.xml" Id="R33dd53e892a94b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ece093ec4d4ba9" /><Relationship Type="http://schemas.openxmlformats.org/officeDocument/2006/relationships/notesMaster" Target="/ppt/notesMasters/notesMaster1.xml" Id="R7b8d5b6c9eb14b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39de3381c74b7f" /><Relationship Type="http://schemas.openxmlformats.org/officeDocument/2006/relationships/notesMaster" Target="/ppt/notesMasters/notesMaster1.xml" Id="R7ce3d309b5fa4b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59506602cc4b3f" /><Relationship Type="http://schemas.openxmlformats.org/officeDocument/2006/relationships/notesMaster" Target="/ppt/notesMasters/notesMaster1.xml" Id="R2d3f782afd5a44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c062ef6a804e47" /><Relationship Type="http://schemas.openxmlformats.org/officeDocument/2006/relationships/notesMaster" Target="/ppt/notesMasters/notesMaster1.xml" Id="R28d468b52c134e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07f6b966a7455c" /><Relationship Type="http://schemas.openxmlformats.org/officeDocument/2006/relationships/notesMaster" Target="/ppt/notesMasters/notesMaster1.xml" Id="R27fc7c05be894f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0ed34ea55f46a8" /><Relationship Type="http://schemas.openxmlformats.org/officeDocument/2006/relationships/notesMaster" Target="/ppt/notesMasters/notesMaster1.xml" Id="R623825e69c38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510a9929704099" /><Relationship Type="http://schemas.openxmlformats.org/officeDocument/2006/relationships/notesMaster" Target="/ppt/notesMasters/notesMaster1.xml" Id="R6c3c65c07eea4d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f16ba81f4543a1" /><Relationship Type="http://schemas.openxmlformats.org/officeDocument/2006/relationships/notesMaster" Target="/ppt/notesMasters/notesMaster1.xml" Id="Rfdf5807ec9f545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fb33a0e7ea4ad9" /><Relationship Type="http://schemas.openxmlformats.org/officeDocument/2006/relationships/notesMaster" Target="/ppt/notesMasters/notesMaster1.xml" Id="Ra23131a76da148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promise: the existing assistant turns a rough shop bill into verified accounting, without skipping human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C:\Users\OMEN\AppData\Local\Temp\codex-clipboard-47efb078-ac69-4c23-a720-37582e853b09.png</a:t>
            </a:r>
          </a:p>
          <a:p xmlns:a="http://schemas.openxmlformats.org/drawingml/2006/main">
            <a:r>
              <a:t>- E:\DukaanBook\README.md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supplied screenshot as evidence of the original extraction gap: products were found, but faint rates and right-side amounts were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C:\Users\OMEN\AppData\Local\Temp\codex-clipboard-47efb078-ac69-4c23-a720-37582e853b09.png</a:t>
            </a:r>
          </a:p>
          <a:p xmlns:a="http://schemas.openxmlformats.org/drawingml/2006/main">
            <a:r>
              <a:t>- C:\Users\OMEN\AppData\Local\Temp\codex-clipboard-c6282576-99c1-43ed-a3ad-e0d1fa69c2f4.png</a:t>
            </a:r>
          </a:p>
          <a:p xmlns:a="http://schemas.openxmlformats.org/drawingml/2006/main">
            <a:r>
              <a:t>- E:\DukaanBook\app\billing\extractors.py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Bills tab remains history/management; creation stays inside the existing AI Assistant.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E:\DukaanBook\web\app.js</a:t>
            </a:r>
          </a:p>
          <a:p xmlns:a="http://schemas.openxmlformats.org/drawingml/2006/main">
            <a:r>
              <a:t>- E:\DukaanBook\app\billing\service.py</a:t>
            </a:r>
          </a:p>
          <a:p xmlns:a="http://schemas.openxmlformats.org/drawingml/2006/main">
            <a:r>
              <a:t>- E:\DukaanBook\app\billing\repository.py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technical idea: probabilistic reading is isolated from deterministic validation and posting.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E:\DukaanBook\app\billing\models.py</a:t>
            </a:r>
          </a:p>
          <a:p xmlns:a="http://schemas.openxmlformats.org/drawingml/2006/main">
            <a:r>
              <a:t>- E:\DukaanBook\app\billing\extractors.py</a:t>
            </a:r>
          </a:p>
          <a:p xmlns:a="http://schemas.openxmlformats.org/drawingml/2006/main">
            <a:r>
              <a:t>- E:\DukaanBook\app\billing\calculator.py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live evidence from the exact supplied image after the spatial money pass and deterministic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C:\Users\OMEN\AppData\Local\Temp\codex-clipboard-47efb078-ac69-4c23-a720-37582e853b09.png</a:t>
            </a:r>
          </a:p>
          <a:p xmlns:a="http://schemas.openxmlformats.org/drawingml/2006/main">
            <a:r>
              <a:t>- E:\DukaanBook\app\billing\extractors.py</a:t>
            </a:r>
          </a:p>
          <a:p xmlns:a="http://schemas.openxmlformats.org/drawingml/2006/main">
            <a:r>
              <a:t>- E:\DukaanBook\tests\test_billing.py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trust boundary: models copy evidence; Decimal/integer-paise code owns all totals and confirmation blockers.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E:\DukaanBook\app\billing\calculator.py</a:t>
            </a:r>
          </a:p>
          <a:p xmlns:a="http://schemas.openxmlformats.org/drawingml/2006/main">
            <a:r>
              <a:t>- E:\DukaanBook\tests\test_billing.py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assistant drives the user; the user should not have to know which fields are missing before starting.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C:\Users\OMEN\AppData\Local\Temp\codex-clipboard-0e4a2d31-76d6-41f0-964b-a827a3f6c8bc.png</a:t>
            </a:r>
          </a:p>
          <a:p xmlns:a="http://schemas.openxmlformats.org/drawingml/2006/main">
            <a:r>
              <a:t>- E:\DukaanBook\web\app.js</a:t>
            </a:r>
          </a:p>
          <a:p xmlns:a="http://schemas.openxmlformats.org/drawingml/2006/main">
            <a:r>
              <a:t>- E:\DukaanBook\app\billing\service.py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confirmation to business safety: a scan can never silently alter stock or money.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E:\DukaanBook\app\billing\repository.py</a:t>
            </a:r>
          </a:p>
          <a:p xmlns:a="http://schemas.openxmlformats.org/drawingml/2006/main">
            <a:r>
              <a:t>- E:\DukaanBook\app\billing\service.py</a:t>
            </a:r>
          </a:p>
          <a:p xmlns:a="http://schemas.openxmlformats.org/drawingml/2006/main">
            <a:r>
              <a:t>- E:\DukaanBook\tests\test_billing_api.py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2 keeps the original Bills tab as the management view and generates downloadable branded invoices from confirmed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C:\Users\OMEN\AppData\Local\Temp\codex-clipboard-0d3e83dd-7bd6-4996-850e-5e04e6511ffd.png</a:t>
            </a:r>
          </a:p>
          <a:p xmlns:a="http://schemas.openxmlformats.org/drawingml/2006/main">
            <a:r>
              <a:t>- E:\DukaanBook\app\billing\pdf.py</a:t>
            </a:r>
          </a:p>
          <a:p xmlns:a="http://schemas.openxmlformats.org/drawingml/2006/main">
            <a:r>
              <a:t>- E:\DukaanBook\app\billing\calculator.py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addresses a practical demo failure: multiple asynchronous replies can no longer create overlapping voices.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C:\Users\OMEN\AppData\Local\Temp\codex-clipboard-0e4a2d31-76d6-41f0-964b-a827a3f6c8bc.png</a:t>
            </a:r>
          </a:p>
          <a:p xmlns:a="http://schemas.openxmlformats.org/drawingml/2006/main">
            <a:r>
              <a:t>- E:\DukaanBook\web\app.js</a:t>
            </a:r>
          </a:p>
          <a:p xmlns:a="http://schemas.openxmlformats.org/drawingml/2006/main">
            <a:r>
              <a:t>- E:\DukaanBook\app\voice.py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 Run scales to zero when idle. The code-only switch ensures access remains with the repository owner, while adapters keep the local workflow intact.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E:\DukaanBook\app\config.py</a:t>
            </a:r>
          </a:p>
          <a:p xmlns:a="http://schemas.openxmlformats.org/drawingml/2006/main">
            <a:r>
              <a:t>- E:\DukaanBook\app\gcp.py</a:t>
            </a:r>
          </a:p>
          <a:p xmlns:a="http://schemas.openxmlformats.org/drawingml/2006/main">
            <a:r>
              <a:t>- E:\DukaanBook\Dockerfile</a:t>
            </a:r>
          </a:p>
          <a:p xmlns:a="http://schemas.openxmlformats.org/drawingml/2006/main">
            <a:r>
              <a:t>- E:\DukaanBook\requirements-prod.txt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measurable proof and the exact live demo sequence. Do not position extraction alone as success; the confirmed accounting updates are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E:\DukaanBook\tests</a:t>
            </a:r>
          </a:p>
          <a:p xmlns:a="http://schemas.openxmlformats.org/drawingml/2006/main">
            <a:r>
              <a:t>- C:\Users\OMEN\AppData\Local\Temp\codex-clipboard-47efb078-ac69-4c23-a720-37582e853b09.png</a:t>
            </a:r>
          </a:p>
          <a:p xmlns:a="http://schemas.openxmlformats.org/drawingml/2006/main">
            <a:r>
              <a:t>- Live local validation on 2026-08-03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6818a321842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5558bd29234d77" /><Relationship Type="http://schemas.openxmlformats.org/officeDocument/2006/relationships/slideLayout" Target="/ppt/slideLayouts/slideLayout1.xml" Id="Rfb730745b29446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730745b29446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098f948d74ce2" /><Relationship Type="http://schemas.openxmlformats.org/officeDocument/2006/relationships/image" Target="/ppt/media/image.png" Id="Re849e83c60044653" /><Relationship Type="http://schemas.openxmlformats.org/officeDocument/2006/relationships/notesSlide" Target="/ppt/notesSlides/notesSlide1.xml" Id="R5f6bab3cc7d64c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67b1620f84d0f" /><Relationship Type="http://schemas.openxmlformats.org/officeDocument/2006/relationships/image" Target="/ppt/media/image2.png" Id="R3eb5c6270ac14efa" /><Relationship Type="http://schemas.openxmlformats.org/officeDocument/2006/relationships/notesSlide" Target="/ppt/notesSlides/notesSlide2.xml" Id="R263a3d8f10074a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72548f648447c" /><Relationship Type="http://schemas.openxmlformats.org/officeDocument/2006/relationships/notesSlide" Target="/ppt/notesSlides/notesSlide3.xml" Id="Rbd3302063633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1d715df334a19" /><Relationship Type="http://schemas.openxmlformats.org/officeDocument/2006/relationships/notesSlide" Target="/ppt/notesSlides/notesSlide4.xml" Id="R77dfcad778b340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12ff8dedb4c99" /><Relationship Type="http://schemas.openxmlformats.org/officeDocument/2006/relationships/image" Target="/ppt/media/image3.png" Id="Rb18e00b8845a4da6" /><Relationship Type="http://schemas.openxmlformats.org/officeDocument/2006/relationships/notesSlide" Target="/ppt/notesSlides/notesSlide5.xml" Id="R88dbd9e632bf44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63970ab7f442b" /><Relationship Type="http://schemas.openxmlformats.org/officeDocument/2006/relationships/notesSlide" Target="/ppt/notesSlides/notesSlide6.xml" Id="R290bc3a5204941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7567d11814074" /><Relationship Type="http://schemas.openxmlformats.org/officeDocument/2006/relationships/image" Target="/ppt/media/image4.png" Id="R05b59db3479141da" /><Relationship Type="http://schemas.openxmlformats.org/officeDocument/2006/relationships/notesSlide" Target="/ppt/notesSlides/notesSlide7.xml" Id="Rc3c47af881374b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8dcb598274fc2" /><Relationship Type="http://schemas.openxmlformats.org/officeDocument/2006/relationships/notesSlide" Target="/ppt/notesSlides/notesSlide8.xml" Id="R0657545066184d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9465c958f42e1" /><Relationship Type="http://schemas.openxmlformats.org/officeDocument/2006/relationships/image" Target="/ppt/media/image5.png" Id="R0253aa880e584662" /><Relationship Type="http://schemas.openxmlformats.org/officeDocument/2006/relationships/notesSlide" Target="/ppt/notesSlides/notesSlide9.xml" Id="R31e9a7fc0cc24a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e486039a34543" /><Relationship Type="http://schemas.openxmlformats.org/officeDocument/2006/relationships/image" Target="/ppt/media/image6.png" Id="R0bb68e6617df4a62" /><Relationship Type="http://schemas.openxmlformats.org/officeDocument/2006/relationships/notesSlide" Target="/ppt/notesSlides/notesSlide10.xml" Id="Rcc0a4c5ea91345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51cc036fd4d73" /><Relationship Type="http://schemas.openxmlformats.org/officeDocument/2006/relationships/notesSlide" Target="/ppt/notesSlides/notesSlide11.xml" Id="R760667a8269a42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ed1051c0d4b7f" /><Relationship Type="http://schemas.openxmlformats.org/officeDocument/2006/relationships/notesSlide" Target="/ppt/notesSlides/notesSlide12.xml" Id="R85d8433152e547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5E9F4-7A36-403A-BAFC-7A61CE2D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PRODUCT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1C3D3-7816-4CE9-A77A-1CF000D5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048"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6A0BE-6042-4342-87A2-2D4F4548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AI Bill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B12C3-38BA-4C83-BCE6-C2E08EA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4340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60747A"/>
                </a:solidFill>
                <a:latin typeface="Arial"/>
                <a:ea typeface="Arial"/>
                <a:cs typeface="Arial"/>
              </a:rPr>
              <a:t>Handwritten bill → verified digital invoice → confirmed accounts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DC23F-BDF2-466D-8B5D-AC3CE4C1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F7"/>
          </a:solidFill>
          <a:ln xmlns:a="http://schemas.openxmlformats.org/drawingml/2006/main" w="9525">
            <a:solidFill>
              <a:srgbClr val="DFF7F7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9e83c60044653"/>
          <a:srcRect xmlns:a="http://schemas.openxmlformats.org/drawingml/2006/main" l="0" t="7476" r="0" b="74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67625" y="590550"/>
            <a:ext cx="3600450" cy="567690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</p:spTree>
    <p:extLst>
      <p:ext uri="{BB962C8B-B14F-4D97-AF65-F5344CB8AC3E}">
        <p14:creationId xmlns:p14="http://schemas.microsoft.com/office/powerpoint/2010/main" val="1228388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4ACF2-63AE-47CC-A304-662F1982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PHASE 2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5D5830A-BD39-4240-AE61-6DCE057B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The hard part is not OCR — it is trustworthy interpretation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733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73AD1-38FC-487C-90CB-3F55BFCC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556B5-68EA-4CA4-BBA2-A7457791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953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A real kirana bill mixes product names, quantities, tiny rates, far-right amounts, overwritten text and a handwritten total.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5A3FA-0BA8-43B5-BAD5-DE8B0AD7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0747A"/>
                </a:solidFill>
                <a:latin typeface="Arial"/>
                <a:ea typeface="Arial"/>
                <a:cs typeface="Arial"/>
              </a:rPr>
              <a:t>A single vision pass can see the products yet miss the money column. That creates a believable but wrong draft — exactly the failure Phase 2 must prevent.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5c6270ac14efa"/>
          <a:stretch xmlns:a="http://schemas.openxmlformats.org/drawingml/2006/main"/>
        </p:blipFill>
        <p:spPr>
          <a:xfrm xmlns:a="http://schemas.openxmlformats.org/drawingml/2006/main">
            <a:off x="6553200" y="1940129"/>
            <a:ext cx="4610100" cy="3320641"/>
          </a:xfrm>
          <a:prstGeom xmlns:a="http://schemas.openxmlformats.org/drawingml/2006/main" prst="roundRect">
            <a:avLst>
              <a:gd name="adj" fmla="val 360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51A33-3FA2-4CD9-BEAA-7001F152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24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48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4840"/>
                </a:solidFill>
                <a:latin typeface="Arial"/>
                <a:ea typeface="Arial"/>
                <a:cs typeface="Arial"/>
              </a:rPr>
              <a:t>Observed failure: ₹2,620 shown while the bill total is ₹7,180</a:t>
            </a:r>
          </a:p>
        </p:txBody>
      </p:sp>
    </p:spTree>
    <p:extLst>
      <p:ext uri="{BB962C8B-B14F-4D97-AF65-F5344CB8AC3E}">
        <p14:creationId xmlns:p14="http://schemas.microsoft.com/office/powerpoint/2010/main" val="553450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3D85B-9E87-457A-AE05-9ADA9BF4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PHASE 2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BF9D94F-6D17-4C6F-B82A-F1C5FF48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One assistant carries the bill from camera to accounts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733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293A7-995C-49F6-B116-784A92D2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647700" y="3181350"/>
            <a:ext cx="10706100" cy="9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71F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5F1A8-1C64-4AFD-956A-5AC2821C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FC4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5884C-5AC0-4381-B6D2-CF98E31F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FC4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6DA9F-A387-4F6A-9C7D-5839DF9D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FC4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EE53F-4306-4198-A134-84A18847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FC4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2D33D-53D8-4636-BCFC-67FEAB56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FC4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0FE1A-3943-4406-A397-5C2E0064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FC4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8CBA5-0C73-4954-8C7B-9FE79A90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4209C-EBC0-4E73-AECF-001CF175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E955B-1CBA-4B93-B3CB-BB1CDB91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Photo enters the existing chatbot.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5DADA-64A2-46FB-B81B-E0681CB0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52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26FE2-02A8-4172-92AD-4A6FE3AD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208C1-427D-4998-9278-7065A630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AI extracts header, rows and totals.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1CB77-AEA8-4017-A8B0-DA87F61C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FF98C-621D-4DFC-884E-A2E4C87A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33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8B9F9-B941-49D9-AE0C-1C43EA25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Code recalculates every rupee.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D335B-E9B1-4E58-AA3D-AA72E235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4C934-E973-4E29-BF81-4FCC0772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AFDDB-B276-4163-8B56-77CC0C46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Only unresolved fields are requested.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FC9A2-1F4B-4AC6-B242-E346C8F8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52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97187C-07FE-49EF-AE49-6FB91097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33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49FD0-2334-498B-A4A7-B62AF9FF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User edits or confirms the draft.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F566C4-6063-4441-9E83-01878502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52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90366-6208-41B0-B146-857A1F5B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1F6AB8-EA4E-4EF1-90E3-A338EA15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Bill, stock and accounts update atomically.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54A339-F9FB-4035-BB99-DF9EE090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Nothing reaches the ledger before confirmation.</a:t>
            </a:r>
          </a:p>
        </p:txBody>
      </p:sp>
    </p:spTree>
    <p:extLst>
      <p:ext uri="{BB962C8B-B14F-4D97-AF65-F5344CB8AC3E}">
        <p14:creationId xmlns:p14="http://schemas.microsoft.com/office/powerpoint/2010/main" val="6601063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EC17AB-B0CC-432F-A876-53EFD0CE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PHASE 2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D0D9D8F-AC62-4EA7-B784-830A9D7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Vision reads the document in layers, not as one guess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733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F7BA6-F4E7-4FE6-984C-3E8864AB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952625" y="279082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FC4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4762500" y="27908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FC4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7448550" y="27908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FC4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9848850" y="329565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FC4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7448550" y="476250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FC4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4762500" y="476250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F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3B6AE-1A80-42E4-A81A-18A1187D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5621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7F7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15D87-E1D7-4740-A276-6B78132A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Original scan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62C6A-4EBF-4989-BBDB-8A61931C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15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0747A"/>
                </a:solidFill>
                <a:latin typeface="Arial"/>
                <a:ea typeface="Arial"/>
                <a:cs typeface="Arial"/>
              </a:rPr>
              <a:t>Stored unchanged and remains authoritative.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935ED-A2BD-4297-B766-42448236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1619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0FAEB-7861-4958-83A5-867C219C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38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50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Parallel first 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A9088-1D43-405C-903A-7CBE2514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0747A"/>
                </a:solidFill>
                <a:latin typeface="Arial"/>
                <a:ea typeface="Arial"/>
                <a:cs typeface="Arial"/>
              </a:rPr>
              <a:t>Vertex Gemini vision + optional Document AI OCR.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46241-4FC2-4C1D-A0CA-F6FCFE1D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05050"/>
            <a:ext cx="1619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7F7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8A3F1-C771-4852-9EB3-621DC223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38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Focused reads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B10DB-CEC4-49B8-AB24-14989101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5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0747A"/>
                </a:solidFill>
                <a:latin typeface="Arial"/>
                <a:ea typeface="Arial"/>
                <a:cs typeface="Arial"/>
              </a:rPr>
              <a:t>Header · items · terms · money columns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AB10C-675F-4A11-9023-5D153A2B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17335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B56F0-83DB-4B6F-9FD5-9B26A2DB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38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172A6-BB18-47C3-9CAC-266050B6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72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0747A"/>
                </a:solidFill>
                <a:latin typeface="Arial"/>
                <a:ea typeface="Arial"/>
                <a:cs typeface="Arial"/>
              </a:rPr>
              <a:t>Dates, phones, GST evidence and row order.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F57C4-F927-4816-AB09-B7202124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95775"/>
            <a:ext cx="17335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7F7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2FB32-8F37-449A-895E-F9687A98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7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Deterministic math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0223E-4448-42BB-81F7-38327ED1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529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0747A"/>
                </a:solidFill>
                <a:latin typeface="Arial"/>
                <a:ea typeface="Arial"/>
                <a:cs typeface="Arial"/>
              </a:rPr>
              <a:t>Integer paise, Decimal rounding and mismatch checks.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2DCB4-AA21-409C-8401-3B07003D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95775"/>
            <a:ext cx="1619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733BE-7AB4-4404-8F66-D11ACBCB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291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Guided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AF1C0-ADC0-4E8B-848E-05CCBF72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52975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84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0747A"/>
                </a:solidFill>
                <a:latin typeface="Arial"/>
                <a:ea typeface="Arial"/>
                <a:cs typeface="Arial"/>
              </a:rPr>
              <a:t>One missing question at a time.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851667-1A88-4EE4-9A25-160C6186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95775"/>
            <a:ext cx="1619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7F7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95F27E-A8A5-4729-9CF7-29178D45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291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A9D877-5A26-4B8E-88A3-6E95C895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52975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57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0747A"/>
                </a:solidFill>
                <a:latin typeface="Arial"/>
                <a:ea typeface="Arial"/>
                <a:cs typeface="Arial"/>
              </a:rPr>
              <a:t>Explicit user approval is required.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2B4398-E4AB-4A0C-9D6F-EEAD762A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Provider-neutral canonical draft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914FD6-919D-4887-95E8-C36E7F98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7150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25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Local Ollama and GCP return the same schema; only the reader changes.</a:t>
            </a:r>
          </a:p>
        </p:txBody>
      </p:sp>
    </p:spTree>
    <p:extLst>
      <p:ext uri="{BB962C8B-B14F-4D97-AF65-F5344CB8AC3E}">
        <p14:creationId xmlns:p14="http://schemas.microsoft.com/office/powerpoint/2010/main" val="1238011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38ABB3-6573-438C-AF4C-1A829221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PHASE 2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1D74CA0F-D7AD-47B4-981F-65224FC0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The difficult bill now reconciles to exactly ₹7,180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400050" y="1733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83E82-155D-4B9C-BD1D-04167567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e00b8845a4da6"/>
          <a:srcRect xmlns:a="http://schemas.openxmlformats.org/drawingml/2006/main" l="0" t="18743" r="0" b="187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771650"/>
            <a:ext cx="3714750" cy="4305300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43B34-49B6-4A24-8504-B1A0429C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7A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07F7A-C984-4C63-9E3B-E01B8B46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09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7A"/>
                </a:solidFill>
                <a:latin typeface="Arial"/>
                <a:ea typeface="Arial"/>
                <a:cs typeface="Arial"/>
              </a:rPr>
              <a:t>QTY ×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D5EA0-08FC-4F10-B026-F5E1B383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47A"/>
                </a:solidFill>
                <a:latin typeface="Arial"/>
                <a:ea typeface="Arial"/>
                <a:cs typeface="Arial"/>
              </a:rPr>
              <a:t>AMOUNT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4552950" y="2400300"/>
            <a:ext cx="6838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E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85FD7-7EAB-450E-9376-C6334071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1F27"/>
                </a:solidFill>
                <a:latin typeface="Arial"/>
                <a:ea typeface="Arial"/>
                <a:cs typeface="Arial"/>
              </a:rPr>
              <a:t>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13DC7-4485-4374-AC55-DF632131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50 × ₹39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1C9F3-27CF-4F0A-9F0F-F529F7CA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336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₹1,950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4552950" y="2724150"/>
            <a:ext cx="6838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EA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D6785-9D11-4541-844B-51D5229F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1F27"/>
                </a:solidFill>
                <a:latin typeface="Arial"/>
                <a:ea typeface="Arial"/>
                <a:cs typeface="Arial"/>
              </a:rPr>
              <a:t>Wheat rawa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8825C-F018-474A-B995-7832D764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10 × ₹40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330E7-0A62-44BD-A292-53100E2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574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₹400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4552950" y="3048000"/>
            <a:ext cx="6838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EA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1E170-5E61-4B16-A32B-1986A425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1F27"/>
                </a:solidFill>
                <a:latin typeface="Arial"/>
                <a:ea typeface="Arial"/>
                <a:cs typeface="Arial"/>
              </a:rPr>
              <a:t>Rai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A88AE-1719-4D65-9BB3-C15FE291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2 × ₹60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BCF5D-ECD7-4DB0-BCAD-7EF242B8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813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₹120</a:t>
            </a:r>
          </a:p>
        </p:txBody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4552950" y="3371850"/>
            <a:ext cx="6838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E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E4AA6-5574-40BF-B1F5-DD352781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1F27"/>
                </a:solidFill>
                <a:latin typeface="Arial"/>
                <a:ea typeface="Arial"/>
                <a:cs typeface="Arial"/>
              </a:rPr>
              <a:t>Red mirchi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F81E0-B572-4913-8AF7-656DE31A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05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5 × ₹125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397B4-9342-4030-810A-1F750A72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051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₹625</a:t>
            </a:r>
          </a:p>
        </p:txBody>
      </p:sp>
      <p:cxnSp>
        <p:nvCxnSpPr>
          <p:cNvPr id="79" name=""/>
          <p:cNvCxnSpPr/>
          <p:nvPr/>
        </p:nvCxnSpPr>
        <p:spPr>
          <a:xfrm xmlns:a="http://schemas.openxmlformats.org/drawingml/2006/main">
            <a:off x="4552950" y="3695700"/>
            <a:ext cx="6838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EA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B76372-F1ED-4784-9137-CEF64DC5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1F27"/>
                </a:solidFill>
                <a:latin typeface="Arial"/>
                <a:ea typeface="Arial"/>
                <a:cs typeface="Arial"/>
              </a:rPr>
              <a:t>Urad dal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7AF17-B6AD-4F1D-9EB3-C284EAC1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29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10 × ₹85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0E6D29-70AE-46CB-BCF3-88E01DE6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29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₹850</a:t>
            </a:r>
          </a:p>
        </p:txBody>
      </p:sp>
      <p:cxnSp>
        <p:nvCxnSpPr>
          <p:cNvPr id="83" name=""/>
          <p:cNvCxnSpPr/>
          <p:nvPr/>
        </p:nvCxnSpPr>
        <p:spPr>
          <a:xfrm xmlns:a="http://schemas.openxmlformats.org/drawingml/2006/main">
            <a:off x="4552950" y="4019550"/>
            <a:ext cx="6838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EA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C9199-D7A4-450E-89F7-8CE5D721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528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1F27"/>
                </a:solidFill>
                <a:latin typeface="Arial"/>
                <a:ea typeface="Arial"/>
                <a:cs typeface="Arial"/>
              </a:rPr>
              <a:t>Hing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455324-9DF1-4BF5-9399-687E40D4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52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5 × ₹65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B73CF1-F445-4779-8937-7A730E72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528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₹325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4552950" y="4343400"/>
            <a:ext cx="6838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EA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2E9A14-F618-4389-8648-2FCEE516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76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1F27"/>
                </a:solidFill>
                <a:latin typeface="Arial"/>
                <a:ea typeface="Arial"/>
                <a:cs typeface="Arial"/>
              </a:rPr>
              <a:t>Groundnut oil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C0E2E8-F362-47ED-B064-15675B41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76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10 × ₹90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750428-E201-4083-8BCC-219C0355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767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₹900</a:t>
            </a:r>
          </a:p>
        </p:txBody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4552950" y="4667250"/>
            <a:ext cx="6838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EA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11B15C-1747-4B4B-A6FC-8EF90A82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005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1F27"/>
                </a:solidFill>
                <a:latin typeface="Arial"/>
                <a:ea typeface="Arial"/>
                <a:cs typeface="Arial"/>
              </a:rPr>
              <a:t>Dhaniya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3516D6-2455-4AC2-92A5-43D50C5E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00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1 × ₹160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B827ED-7028-4D16-A4D2-0CDFC077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005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₹160</a:t>
            </a:r>
          </a:p>
        </p:txBody>
      </p:sp>
      <p:cxnSp>
        <p:nvCxnSpPr>
          <p:cNvPr id="95" name=""/>
          <p:cNvCxnSpPr/>
          <p:nvPr/>
        </p:nvCxnSpPr>
        <p:spPr>
          <a:xfrm xmlns:a="http://schemas.openxmlformats.org/drawingml/2006/main">
            <a:off x="4552950" y="4991100"/>
            <a:ext cx="6838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EA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8C36CE-2C92-4660-9EF3-5182636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244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1F27"/>
                </a:solidFill>
                <a:latin typeface="Arial"/>
                <a:ea typeface="Arial"/>
                <a:cs typeface="Arial"/>
              </a:rPr>
              <a:t>Mirchi powder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9A40AE-7D0E-44A5-AD1C-7FA9F89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24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5 × ₹180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6F217D-9446-41C4-A008-8ED4E232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244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₹900</a:t>
            </a:r>
          </a:p>
        </p:txBody>
      </p:sp>
      <p:cxnSp>
        <p:nvCxnSpPr>
          <p:cNvPr id="99" name=""/>
          <p:cNvCxnSpPr/>
          <p:nvPr/>
        </p:nvCxnSpPr>
        <p:spPr>
          <a:xfrm xmlns:a="http://schemas.openxmlformats.org/drawingml/2006/main">
            <a:off x="4552950" y="5314950"/>
            <a:ext cx="6838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EA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BB6A06-4129-4ABA-AFD8-BBA05C06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48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1F27"/>
                </a:solidFill>
                <a:latin typeface="Arial"/>
                <a:ea typeface="Arial"/>
                <a:cs typeface="Arial"/>
              </a:rPr>
              <a:t>Surf/Tide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008069-354D-43A8-BAE8-A3CAC0CC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48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5 × ₹50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CD20AD-65C2-4FAF-9647-05BC9687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0482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₹250</a:t>
            </a:r>
          </a:p>
        </p:txBody>
      </p:sp>
      <p:cxnSp>
        <p:nvCxnSpPr>
          <p:cNvPr id="103" name=""/>
          <p:cNvCxnSpPr/>
          <p:nvPr/>
        </p:nvCxnSpPr>
        <p:spPr>
          <a:xfrm xmlns:a="http://schemas.openxmlformats.org/drawingml/2006/main">
            <a:off x="4552950" y="5638800"/>
            <a:ext cx="68389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EA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B83352-6E95-4018-9E37-44320FCE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72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1F27"/>
                </a:solidFill>
                <a:latin typeface="Arial"/>
                <a:ea typeface="Arial"/>
                <a:cs typeface="Arial"/>
              </a:rPr>
              <a:t>Coconut oil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04CAD9-679C-4348-9A4E-E7BC763C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72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20 × ₹35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086D69-4398-413D-AF73-F6D8B32B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3721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₹700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AF7C6C-BBC7-4FDF-A3A9-EEB3BBE7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81675"/>
            <a:ext cx="3962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7F7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130D27-C35F-498C-85CF-BA0B19D6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76925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11/11 rates recovered · Total ₹7,180</a:t>
            </a:r>
          </a:p>
        </p:txBody>
      </p:sp>
    </p:spTree>
    <p:extLst>
      <p:ext uri="{BB962C8B-B14F-4D97-AF65-F5344CB8AC3E}">
        <p14:creationId xmlns:p14="http://schemas.microsoft.com/office/powerpoint/2010/main" val="195632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F87A0-A1B2-46D9-BD72-CD84F71C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PHASE 2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8E2FB81D-92BB-49ED-B196-8AB5DC46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AI reads; deterministic code verifies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1733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BABB3-339A-474D-ACBA-85991A6B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AF805-508C-4611-90AD-C63AE95E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848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840"/>
                </a:solidFill>
                <a:latin typeface="Arial"/>
                <a:ea typeface="Arial"/>
                <a:cs typeface="Arial"/>
              </a:rPr>
              <a:t>Probabilistic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7F0BC-E914-4647-9F41-3B094B31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Names and handwriting</a:t>
            </a:r>
          </a:p>
          <a:p xmlns:a="http://schemas.openxmlformats.org/drawingml/2006/main">
            <a:pPr>
              <a:defRPr sz="172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Quantity / rate / amount cells</a:t>
            </a:r>
          </a:p>
          <a:p xmlns:a="http://schemas.openxmlformats.org/drawingml/2006/main">
            <a:pPr>
              <a:defRPr sz="172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Date, GST and payment wording</a:t>
            </a:r>
          </a:p>
          <a:p xmlns:a="http://schemas.openxmlformats.org/drawingml/2006/main">
            <a:pPr>
              <a:defRPr sz="172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Confidence and ambiguity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876800" y="1866900"/>
            <a:ext cx="9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5E52C-E2A5-4FB7-9625-5D6C4AF3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62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90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905B"/>
                </a:solidFill>
                <a:latin typeface="Arial"/>
                <a:ea typeface="Arial"/>
                <a:cs typeface="Arial"/>
              </a:rPr>
              <a:t>Deterministic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D1264-BEA4-4E82-8C4C-1FC180ED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76500"/>
            <a:ext cx="581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Integer paise — no float drift</a:t>
            </a:r>
          </a:p>
          <a:p xmlns:a="http://schemas.openxmlformats.org/drawingml/2006/main">
            <a:pPr>
              <a:defRPr sz="172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Quantity × unit rate per line</a:t>
            </a:r>
          </a:p>
          <a:p xmlns:a="http://schemas.openxmlformats.org/drawingml/2006/main">
            <a:pPr>
              <a:defRPr sz="172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GST / CGST / SGST / IGST split</a:t>
            </a:r>
          </a:p>
          <a:p xmlns:a="http://schemas.openxmlformats.org/drawingml/2006/main">
            <a:pPr>
              <a:defRPr sz="172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Discount, charges and round-off</a:t>
            </a:r>
          </a:p>
          <a:p xmlns:a="http://schemas.openxmlformats.org/drawingml/2006/main">
            <a:pPr>
              <a:defRPr sz="172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Written-total mismatch blocks confirm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8D1CF-0D47-4710-AA82-8E9AC2A2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143500"/>
            <a:ext cx="5810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DFF7F7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2B871-297D-4591-9D88-B04255EC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35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35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A plausible AI answer is never enough.</a:t>
            </a:r>
          </a:p>
          <a:p xmlns:a="http://schemas.openxmlformats.org/drawingml/2006/main">
            <a:pPr algn="ctr">
              <a:defRPr sz="17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The calculator must independently agree.</a:t>
            </a:r>
          </a:p>
        </p:txBody>
      </p:sp>
    </p:spTree>
    <p:extLst>
      <p:ext uri="{BB962C8B-B14F-4D97-AF65-F5344CB8AC3E}">
        <p14:creationId xmlns:p14="http://schemas.microsoft.com/office/powerpoint/2010/main" val="1288322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76F8C-2091-4354-B3C9-4E97E25C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PHASE 2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86EE3561-A3E9-4AA2-93CF-C4391BEE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The chatbot asks only for what the scan could not prove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733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CF560-BBB2-4E67-BDE2-256BBC00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FEDEC-3386-4E6A-9FE3-6753B3E7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Three ways to complete a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FE200-C215-470B-B8A6-2BE95ECC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1  Type the answer in natural Hinglish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2  Speak — the same bill draft is updated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3  Open Review and edit fields manually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E30AE-0A92-4FFE-87A9-E2E79954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6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The draft remembers previous answers, asks one focused question at a time, and never resets unrelated fields.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59db3479141da"/>
          <a:srcRect xmlns:a="http://schemas.openxmlformats.org/drawingml/2006/main" l="0" t="10312" r="0" b="10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733550"/>
            <a:ext cx="4495800" cy="4495800"/>
          </a:xfrm>
          <a:prstGeom xmlns:a="http://schemas.openxmlformats.org/drawingml/2006/main" prst="roundRect">
            <a:avLst>
              <a:gd name="adj" fmla="val 2966"/>
            </a:avLst>
          </a:prstGeom>
        </p:spPr>
      </p:pic>
    </p:spTree>
    <p:extLst>
      <p:ext uri="{BB962C8B-B14F-4D97-AF65-F5344CB8AC3E}">
        <p14:creationId xmlns:p14="http://schemas.microsoft.com/office/powerpoint/2010/main" val="2057674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AE09B-8766-4EB9-B7EE-E5FF2E27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PHASE 2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5DFEA26A-79B8-4501-B7C5-5AA68AFF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Confirmation is the accounting safety boundary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733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34BD4-BE6D-4CCB-B0AB-D6563DE7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2057400" y="3028950"/>
            <a:ext cx="9715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FC4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4705350" y="3028950"/>
            <a:ext cx="9715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FC4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7353300" y="3028950"/>
            <a:ext cx="9715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BF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1008D-5631-498C-A6FD-7A0DB6AD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6573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38986-267C-4026-826F-1614F30C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94734-99C7-4F9A-8A0A-E3DF376F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22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0747A"/>
                </a:solidFill>
                <a:latin typeface="Arial"/>
                <a:ea typeface="Arial"/>
                <a:cs typeface="Arial"/>
              </a:rPr>
              <a:t>Creates a persistent draft only.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B50CF-F549-4665-A46D-6B81D4AA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86050"/>
            <a:ext cx="1676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4116C-9352-4173-A071-3C861855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194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67A81-2217-4366-84BC-4D8067B5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4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0747A"/>
                </a:solidFill>
                <a:latin typeface="Arial"/>
                <a:ea typeface="Arial"/>
                <a:cs typeface="Arial"/>
              </a:rPr>
              <a:t>Shows missing fields and maths issues.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2BC06-0789-4011-B49E-72116331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86050"/>
            <a:ext cx="1676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7F7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25E8F-0FB8-4C62-BB4F-A0BDABC6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194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A37B6-C862-43D9-A10C-ACB7FA76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43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5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0747A"/>
                </a:solidFill>
                <a:latin typeface="Arial"/>
                <a:ea typeface="Arial"/>
                <a:cs typeface="Arial"/>
              </a:rPr>
              <a:t>Explicit user action; blocked on errors.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6CCB6-8F81-47E1-9355-6602D0C0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6860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7F7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500B8-69A5-4BD8-927C-16B9E181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Atomic posting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19974-235C-4840-AC8B-4B433360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0747A"/>
                </a:solidFill>
                <a:latin typeface="Arial"/>
                <a:ea typeface="Arial"/>
                <a:cs typeface="Arial"/>
              </a:rPr>
              <a:t>Bill + stock + ledger + cashbook succeed together.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DE563-D98D-402A-9BEE-2189C5D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0610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If posting fails, the transaction rolls back — there is no half-updated shop.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89CCA-EA71-4DC6-AC28-5FCCC4BE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061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0747A"/>
                </a:solidFill>
                <a:latin typeface="Arial"/>
                <a:ea typeface="Arial"/>
                <a:cs typeface="Arial"/>
              </a:rPr>
              <a:t>Idempotency also prevents a double-click from creating duplicate accounting entries.</a:t>
            </a:r>
          </a:p>
        </p:txBody>
      </p:sp>
    </p:spTree>
    <p:extLst>
      <p:ext uri="{BB962C8B-B14F-4D97-AF65-F5344CB8AC3E}">
        <p14:creationId xmlns:p14="http://schemas.microsoft.com/office/powerpoint/2010/main" val="6715418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8F7C5-A1CD-4D46-9861-8B8E0AEA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PHASE 2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49AC782A-77DF-4019-A4EF-1E855C0E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One canonical draft produces GST and non-GST bills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1733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34C62-892B-41E1-B6A3-37475DEC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AB5D2-B1A2-429E-8A7A-6FEE1913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NON-GST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48F0A-43BF-478E-BC20-7C1DB184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Subtotal from verified line totals</a:t>
            </a:r>
          </a:p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Discounts, charges and round-off</a:t>
            </a:r>
          </a:p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Paid / partial / credit handling</a:t>
            </a:r>
          </a:p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Clean DukanBook PDF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5334000" y="1866900"/>
            <a:ext cx="95" cy="37338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32248-5E03-4A70-8B59-8EE0F76F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02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GST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A2E88-298E-443F-8880-40A77B0B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479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Bill-level or per-line rates</a:t>
            </a:r>
          </a:p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CGST + SGST or IGST scheme</a:t>
            </a:r>
          </a:p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HSN and GSTIN fields when present</a:t>
            </a:r>
          </a:p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• Tax ladder reconciles to grand total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3aa880e584662"/>
          <a:srcRect xmlns:a="http://schemas.openxmlformats.org/drawingml/2006/main" l="0" t="29526" r="0" b="295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4762500"/>
            <a:ext cx="3486150" cy="120015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358BF-CA69-4D83-99FC-D0A8EADB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4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Professional invoice · QR · totals · Powered by DukanBook</a:t>
            </a:r>
          </a:p>
        </p:txBody>
      </p:sp>
    </p:spTree>
    <p:extLst>
      <p:ext uri="{BB962C8B-B14F-4D97-AF65-F5344CB8AC3E}">
        <p14:creationId xmlns:p14="http://schemas.microsoft.com/office/powerpoint/2010/main" val="1604503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1B87E-2D46-4828-9A7A-B840F3B6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PHASE 2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D24631F1-0787-41DD-BB16-B490A215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Voice is natural, interruptible — and never overlaps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00050" y="1733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4D231-0A4F-417A-A321-BEABF0D8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68e6617df4a62"/>
          <a:srcRect xmlns:a="http://schemas.openxmlformats.org/drawingml/2006/main" l="0" t="13014" r="0" b="130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771650"/>
            <a:ext cx="4476750" cy="4171950"/>
          </a:xfrm>
          <a:prstGeom xmlns:a="http://schemas.openxmlformats.org/drawingml/2006/main" prst="roundRect">
            <a:avLst>
              <a:gd name="adj" fmla="val 319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4EF42-1DA1-4DF1-BB6E-E7F02ACA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81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Serialized speech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9F461-E459-41CB-AF04-352DF4CF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28900"/>
            <a:ext cx="5429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Each reply follows one path: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Synthesize → play completely → release → play next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0747A"/>
                </a:solidFill>
                <a:latin typeface="Arial"/>
                <a:ea typeface="Arial"/>
                <a:cs typeface="Arial"/>
              </a:rPr>
              <a:t>The Stop button cancels the current audio, aborts speech generation and clears queued replies.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8B142-45C5-461D-B139-AF5F5DAC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54292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DFF7F7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E01E5-977D-4128-9281-35893EA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81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Typed replies obey the speaker switch; voice questions always receive a spoken answer.</a:t>
            </a:r>
          </a:p>
        </p:txBody>
      </p:sp>
    </p:spTree>
    <p:extLst>
      <p:ext uri="{BB962C8B-B14F-4D97-AF65-F5344CB8AC3E}">
        <p14:creationId xmlns:p14="http://schemas.microsoft.com/office/powerpoint/2010/main" val="15415619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F2262-8E08-4341-9DB7-86F12B65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PHASE 2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867CBD55-F2BD-4B7E-BFAA-734C31E4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Cloud quality is optional; the product still works locally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733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DC603-41AE-40AC-9801-574CFABC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07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B2BA0-1D42-4DA8-88EC-F43756B8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2CD8A-701D-4C19-8D52-FCC74872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HTML · CSS · JavaScript</a:t>
            </a:r>
          </a:p>
          <a:p xmlns:a="http://schemas.openxmlformats.org/drawingml/2006/main">
            <a:pPr>
              <a:defRPr sz="172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Existing Assistant + Bills tab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21A34-7773-4D07-BB61-562A3674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AA26A-F0F9-40BB-9D43-92A2E7E6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955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FastAPI · Python</a:t>
            </a:r>
          </a:p>
          <a:p xmlns:a="http://schemas.openxmlformats.org/drawingml/2006/main">
            <a:pPr>
              <a:defRPr sz="172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SQLite · atomic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F40FA-1AD6-4B12-9702-5BBA2C3B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AI + VOICE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0031C-8B25-44BF-A8E3-688C10AB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955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Vertex Gemini · Document AI</a:t>
            </a:r>
          </a:p>
          <a:p xmlns:a="http://schemas.openxmlformats.org/drawingml/2006/main">
            <a:pPr>
              <a:defRPr sz="172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STT V2 Chirp 3 · Chirp 3 HD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1D55-CFA0-4C84-9423-575DF908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EFF61-9F74-46FD-B597-9E8608E4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Docker · Cloud Run</a:t>
            </a:r>
          </a:p>
          <a:p xmlns:a="http://schemas.openxmlformats.org/drawingml/2006/main">
            <a:pPr>
              <a:defRPr sz="172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min instances = 0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4191000"/>
            <a:ext cx="10668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6D9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6898F-6DDB-4B3F-B002-906ED339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Private code-only switch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A250C-2382-44E4-8140-90776530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0747A"/>
                </a:solidFill>
                <a:latin typeface="Arial"/>
                <a:ea typeface="Arial"/>
                <a:cs typeface="Arial"/>
              </a:rPr>
              <a:t>GCP_ENABLED is not exposed in the UI or API. The repository owner controls provider policy in source code.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2D3BF-3DD8-4918-AF01-FA1D8751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Safe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EA81D-54E6-4022-ADD5-B015B366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0747A"/>
                </a:solidFill>
                <a:latin typeface="Arial"/>
                <a:ea typeface="Arial"/>
                <a:cs typeface="Arial"/>
              </a:rPr>
              <a:t>If GCP is disabled or unavailable, Ollama, local Whisper and edge-tts continue through the same interfaces.</a:t>
            </a:r>
          </a:p>
        </p:txBody>
      </p:sp>
    </p:spTree>
    <p:extLst>
      <p:ext uri="{BB962C8B-B14F-4D97-AF65-F5344CB8AC3E}">
        <p14:creationId xmlns:p14="http://schemas.microsoft.com/office/powerpoint/2010/main" val="473623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4FA92-E055-4CA8-876F-5ABE68FD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DUKANBOOK · PHASE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7A699-3571-4F3C-93BD-D6770879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Phase 2 is ready for a controlled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E0824-E641-495A-A342-12B0B222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43840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FF4F5"/>
          </a:solidFill>
          <a:ln xmlns:a="http://schemas.openxmlformats.org/drawingml/2006/main" w="9525">
            <a:solidFill>
              <a:srgbClr val="CBD6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3B56B-3BDE-483D-966B-D97F6C2F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213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D1D26-978B-4CA0-873A-8DAF99C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automated 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D391F-233F-4EF2-8AED-A1F695A3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43840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FF4F5"/>
          </a:solidFill>
          <a:ln xmlns:a="http://schemas.openxmlformats.org/drawingml/2006/main" w="9525">
            <a:solidFill>
              <a:srgbClr val="CBD6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C25C0-DC49-4802-8C0A-98C09EB5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82B88-7573-4D1E-AA3B-78C9E946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rates recovered from the supplied bill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D44E9-ADFF-45D8-B1FF-4624DEAB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243840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DFF7F7"/>
          </a:solidFill>
          <a:ln xmlns:a="http://schemas.openxmlformats.org/drawingml/2006/main" w="9525">
            <a:solidFill>
              <a:srgbClr val="16B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900AF-864A-4E57-8DA0-39CCF08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7E83"/>
                </a:solidFill>
                <a:latin typeface="Arial"/>
                <a:ea typeface="Arial"/>
                <a:cs typeface="Arial"/>
              </a:rPr>
              <a:t>₹7,180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4E6E9-0AF1-4D34-8A20-C460AC5D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verified total — zero warnings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3DBEC-B99F-4D5F-A15E-67913BB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43840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FF4F5"/>
          </a:solidFill>
          <a:ln xmlns:a="http://schemas.openxmlformats.org/drawingml/2006/main" w="9525">
            <a:solidFill>
              <a:srgbClr val="CBD6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41FFB-7734-4F82-A15D-2AD1B543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0350"/>
            <a:ext cx="2057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1E781-1310-4BBF-9E33-3F6C6B37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4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47A"/>
                </a:solidFill>
                <a:latin typeface="Arial"/>
                <a:ea typeface="Arial"/>
                <a:cs typeface="Arial"/>
              </a:rPr>
              <a:t>minimum Cloud Run instances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29D6A-B96E-4D7C-89DD-CF67A15F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77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F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F27"/>
                </a:solidFill>
                <a:latin typeface="Arial"/>
                <a:ea typeface="Arial"/>
                <a:cs typeface="Arial"/>
              </a:rPr>
              <a:t>Demo next: scan → resolve → review → confirm → verify stock, ledger and cashbook.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A6751-DFB8-446B-9F73-CD7A8358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87E8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087E83"/>
                </a:solidFill>
                <a:latin typeface="Arial"/>
                <a:ea typeface="Arial"/>
                <a:cs typeface="Arial"/>
              </a:rPr>
              <a:t>Human confirmation remains the final authority.</a:t>
            </a:r>
          </a:p>
        </p:txBody>
      </p:sp>
    </p:spTree>
    <p:extLst>
      <p:ext uri="{BB962C8B-B14F-4D97-AF65-F5344CB8AC3E}">
        <p14:creationId xmlns:p14="http://schemas.microsoft.com/office/powerpoint/2010/main" val="1639818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2026-08-02T23:43:54.9750000Z</dcterms:created>
  <dcterms:modified xsi:type="dcterms:W3CDTF">2026-08-02T23:43:54.9750000Z</dcterms:modified>
</coreProperties>
</file>