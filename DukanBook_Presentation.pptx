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3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463040"/>
            <a:ext cx="4023360" cy="4023360"/>
          </a:xfrm>
          <a:prstGeom prst="ellipse">
            <a:avLst/>
          </a:prstGeom>
          <a:solidFill>
            <a:srgbClr val="0E9F9F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480560"/>
            <a:ext cx="3474720" cy="3474720"/>
          </a:xfrm>
          <a:prstGeom prst="ellipse">
            <a:avLst/>
          </a:prstGeom>
          <a:solidFill>
            <a:srgbClr val="2FD4C4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9202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DukanBook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28803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F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Voice + Text Assistant for Shopkeepers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35661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F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khata that you can simply talk to, in Hindi, English or Hinglish.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52120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F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Project  ·  NestDukanBook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Amaan Khan &amp; Srishti Rathi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3453384" cy="3108960"/>
          </a:xfrm>
          <a:prstGeom prst="roundRect">
            <a:avLst>
              <a:gd name="adj" fmla="val 2647"/>
            </a:avLst>
          </a:prstGeom>
          <a:solidFill>
            <a:srgbClr val="EAF7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2057400"/>
            <a:ext cx="502920" cy="502920"/>
          </a:xfrm>
          <a:prstGeom prst="ellipse">
            <a:avLst/>
          </a:prstGeom>
          <a:solidFill>
            <a:srgbClr val="0E9F9F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2697480"/>
            <a:ext cx="2813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636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Paper hisaab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60120" y="3246120"/>
            <a:ext cx="28133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small shops still keep their accounts in a paper register that is easy to lose and hard to total.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67784" y="1737360"/>
            <a:ext cx="3453384" cy="3108960"/>
          </a:xfrm>
          <a:prstGeom prst="roundRect">
            <a:avLst>
              <a:gd name="adj" fmla="val 2647"/>
            </a:avLst>
          </a:prstGeom>
          <a:solidFill>
            <a:srgbClr val="EAF7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87824" y="2057400"/>
            <a:ext cx="502920" cy="502920"/>
          </a:xfrm>
          <a:prstGeom prst="ellipse">
            <a:avLst/>
          </a:prstGeom>
          <a:solidFill>
            <a:srgbClr val="0E9F9F"/>
          </a:solidFill>
          <a:ln/>
        </p:spPr>
      </p:sp>
      <p:sp>
        <p:nvSpPr>
          <p:cNvPr id="10" name="Text 8"/>
          <p:cNvSpPr/>
          <p:nvPr/>
        </p:nvSpPr>
        <p:spPr>
          <a:xfrm>
            <a:off x="4687824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87824" y="2697480"/>
            <a:ext cx="2813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636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Costly, complex apps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687824" y="3246120"/>
            <a:ext cx="28133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accounting apps feel expensive and complicated for a busy shopkeeper to learn.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95488" y="1737360"/>
            <a:ext cx="3453384" cy="3108960"/>
          </a:xfrm>
          <a:prstGeom prst="roundRect">
            <a:avLst>
              <a:gd name="adj" fmla="val 2647"/>
            </a:avLst>
          </a:prstGeom>
          <a:solidFill>
            <a:srgbClr val="EAF7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15528" y="2057400"/>
            <a:ext cx="502920" cy="502920"/>
          </a:xfrm>
          <a:prstGeom prst="ellipse">
            <a:avLst/>
          </a:prstGeom>
          <a:solidFill>
            <a:srgbClr val="0E9F9F"/>
          </a:solidFill>
          <a:ln/>
        </p:spPr>
      </p:sp>
      <p:sp>
        <p:nvSpPr>
          <p:cNvPr id="15" name="Text 13"/>
          <p:cNvSpPr/>
          <p:nvPr/>
        </p:nvSpPr>
        <p:spPr>
          <a:xfrm>
            <a:off x="8415528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15528" y="2697480"/>
            <a:ext cx="2813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636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They prefer to speak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415528" y="3246120"/>
            <a:ext cx="28133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owners are far more comfortable talking than typing on a phone keyboard.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521208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0E9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goal: make keeping accounts as easy as talking to a munshi.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3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1352" y="3931920"/>
            <a:ext cx="4572000" cy="4572000"/>
          </a:xfrm>
          <a:prstGeom prst="ellipse">
            <a:avLst/>
          </a:prstGeom>
          <a:solidFill>
            <a:srgbClr val="0E9F9F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2801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F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0424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 AI munshi for the shop.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Just talk to it, and it keeps the khata.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241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F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opens accounts, records udhaar and payments, sets call and payment reminders, and answers everyday business questions. All by voice or text, and all saved to one database.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3422904" cy="1965960"/>
          </a:xfrm>
          <a:prstGeom prst="roundRect">
            <a:avLst>
              <a:gd name="adj" fmla="val 4186"/>
            </a:avLst>
          </a:prstGeom>
          <a:solidFill>
            <a:srgbClr val="EAF7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0E9F9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508760" y="1965960"/>
            <a:ext cx="2325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636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Digital Khata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28742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&amp; suppliers with a running balance and clear 'you will get / you will give' totals.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3024" y="1691640"/>
            <a:ext cx="3422904" cy="1965960"/>
          </a:xfrm>
          <a:prstGeom prst="roundRect">
            <a:avLst>
              <a:gd name="adj" fmla="val 4186"/>
            </a:avLst>
          </a:prstGeom>
          <a:solidFill>
            <a:srgbClr val="EAF7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57344" y="1965960"/>
            <a:ext cx="457200" cy="457200"/>
          </a:xfrm>
          <a:prstGeom prst="ellipse">
            <a:avLst/>
          </a:prstGeom>
          <a:solidFill>
            <a:srgbClr val="0E9F9F"/>
          </a:solidFill>
          <a:ln/>
        </p:spPr>
      </p:sp>
      <p:sp>
        <p:nvSpPr>
          <p:cNvPr id="10" name="Text 8"/>
          <p:cNvSpPr/>
          <p:nvPr/>
        </p:nvSpPr>
        <p:spPr>
          <a:xfrm>
            <a:off x="4657344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251704" y="1965960"/>
            <a:ext cx="2325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636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AI Assistant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4657344" y="2560320"/>
            <a:ext cx="28742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natural Hindi, English and Hinglish, by voice or text.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25968" y="1691640"/>
            <a:ext cx="3422904" cy="1965960"/>
          </a:xfrm>
          <a:prstGeom prst="roundRect">
            <a:avLst>
              <a:gd name="adj" fmla="val 4186"/>
            </a:avLst>
          </a:prstGeom>
          <a:solidFill>
            <a:srgbClr val="EAF7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00288" y="1965960"/>
            <a:ext cx="457200" cy="457200"/>
          </a:xfrm>
          <a:prstGeom prst="ellipse">
            <a:avLst/>
          </a:prstGeom>
          <a:solidFill>
            <a:srgbClr val="0E9F9F"/>
          </a:solidFill>
          <a:ln/>
        </p:spPr>
      </p:sp>
      <p:sp>
        <p:nvSpPr>
          <p:cNvPr id="15" name="Text 13"/>
          <p:cNvSpPr/>
          <p:nvPr/>
        </p:nvSpPr>
        <p:spPr>
          <a:xfrm>
            <a:off x="8400288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994648" y="1965960"/>
            <a:ext cx="2325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636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Call &amp; Payment Reminders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8400288" y="2560320"/>
            <a:ext cx="28742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Voice-created reminders with ready WhatsApp and click-to-call links.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3931920"/>
            <a:ext cx="3422904" cy="1965960"/>
          </a:xfrm>
          <a:prstGeom prst="roundRect">
            <a:avLst>
              <a:gd name="adj" fmla="val 4186"/>
            </a:avLst>
          </a:prstGeom>
          <a:solidFill>
            <a:srgbClr val="EAF7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14400" y="4206240"/>
            <a:ext cx="457200" cy="457200"/>
          </a:xfrm>
          <a:prstGeom prst="ellipse">
            <a:avLst/>
          </a:prstGeom>
          <a:solidFill>
            <a:srgbClr val="0E9F9F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4206240"/>
            <a:ext cx="2325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636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Business Knowledge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914400" y="4800600"/>
            <a:ext cx="28742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answers on GST, income tax, loans, licences and schemes.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383024" y="3931920"/>
            <a:ext cx="3422904" cy="1965960"/>
          </a:xfrm>
          <a:prstGeom prst="roundRect">
            <a:avLst>
              <a:gd name="adj" fmla="val 4186"/>
            </a:avLst>
          </a:prstGeom>
          <a:solidFill>
            <a:srgbClr val="EAF7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57344" y="4206240"/>
            <a:ext cx="457200" cy="457200"/>
          </a:xfrm>
          <a:prstGeom prst="ellipse">
            <a:avLst/>
          </a:prstGeom>
          <a:solidFill>
            <a:srgbClr val="0E9F9F"/>
          </a:solidFill>
          <a:ln/>
        </p:spPr>
      </p:sp>
      <p:sp>
        <p:nvSpPr>
          <p:cNvPr id="25" name="Text 23"/>
          <p:cNvSpPr/>
          <p:nvPr/>
        </p:nvSpPr>
        <p:spPr>
          <a:xfrm>
            <a:off x="4657344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251704" y="4206240"/>
            <a:ext cx="2325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636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Speak or Type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4657344" y="4800600"/>
            <a:ext cx="28742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voice input and spoken replies, or simple typing. Your choice.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125968" y="3931920"/>
            <a:ext cx="3422904" cy="1965960"/>
          </a:xfrm>
          <a:prstGeom prst="roundRect">
            <a:avLst>
              <a:gd name="adj" fmla="val 4186"/>
            </a:avLst>
          </a:prstGeom>
          <a:solidFill>
            <a:srgbClr val="EAF7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400288" y="4206240"/>
            <a:ext cx="457200" cy="457200"/>
          </a:xfrm>
          <a:prstGeom prst="ellipse">
            <a:avLst/>
          </a:prstGeom>
          <a:solidFill>
            <a:srgbClr val="0E9F9F"/>
          </a:solidFill>
          <a:ln/>
        </p:spPr>
      </p:sp>
      <p:sp>
        <p:nvSpPr>
          <p:cNvPr id="30" name="Text 28"/>
          <p:cNvSpPr/>
          <p:nvPr/>
        </p:nvSpPr>
        <p:spPr>
          <a:xfrm>
            <a:off x="8400288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994648" y="4206240"/>
            <a:ext cx="2325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636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Local &amp; Key-Free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8400288" y="4800600"/>
            <a:ext cx="28742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 local AI model, so no paid API key is needed for the assistant.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Feature:Digital Khata (Ledger)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6126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Customers and Suppliers tabs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udhaar given and payments received in one tap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is calculated, never stored, so it can never go out of sync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account shows its full transaction history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number on each account with Call and WhatsApp buttons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0" y="1737360"/>
            <a:ext cx="4023360" cy="3566160"/>
          </a:xfrm>
          <a:prstGeom prst="roundRect">
            <a:avLst>
              <a:gd name="adj" fmla="val 2308"/>
            </a:avLst>
          </a:prstGeom>
          <a:solidFill>
            <a:srgbClr val="EAF7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589520" y="2057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get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589520" y="23774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9E5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Rs 12,500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326880" y="2057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give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326880" y="23774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39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Rs 3,200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589520" y="3246120"/>
            <a:ext cx="384048" cy="384048"/>
          </a:xfrm>
          <a:prstGeom prst="ellipse">
            <a:avLst/>
          </a:prstGeom>
          <a:solidFill>
            <a:srgbClr val="0E9F9F"/>
          </a:solidFill>
          <a:ln/>
        </p:spPr>
      </p:sp>
      <p:sp>
        <p:nvSpPr>
          <p:cNvPr id="10" name="Text 8"/>
          <p:cNvSpPr/>
          <p:nvPr/>
        </p:nvSpPr>
        <p:spPr>
          <a:xfrm>
            <a:off x="758952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92440" y="3200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Ramesh Kirana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921240" y="320040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Rs 5,000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589520" y="3904488"/>
            <a:ext cx="384048" cy="384048"/>
          </a:xfrm>
          <a:prstGeom prst="ellipse">
            <a:avLst/>
          </a:prstGeom>
          <a:solidFill>
            <a:srgbClr val="0E9F9F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3904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92440" y="38587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Suresh Store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921240" y="385876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Rs 7,500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589520" y="4562856"/>
            <a:ext cx="384048" cy="384048"/>
          </a:xfrm>
          <a:prstGeom prst="ellipse">
            <a:avLst/>
          </a:prstGeom>
          <a:solidFill>
            <a:srgbClr val="0E9F9F"/>
          </a:solidFill>
          <a:ln/>
        </p:spPr>
      </p:sp>
      <p:sp>
        <p:nvSpPr>
          <p:cNvPr id="18" name="Text 16"/>
          <p:cNvSpPr/>
          <p:nvPr/>
        </p:nvSpPr>
        <p:spPr>
          <a:xfrm>
            <a:off x="7589520" y="4562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092440" y="451713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Verma Traders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921240" y="4517136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Rs 3,200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Feature:AI Assistant (Voice + Text)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6035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naturally: "Ramesh ko 500 udhaar likho"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one or many accounts at once by voice or text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a command and hear the reply spoken back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 Hindi, English and mixed Hinglish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unsure, it says so instead of guessing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223760" y="1737360"/>
            <a:ext cx="4114800" cy="3566160"/>
          </a:xfrm>
          <a:prstGeom prst="roundRect">
            <a:avLst>
              <a:gd name="adj" fmla="val 2308"/>
            </a:avLst>
          </a:prstGeom>
          <a:solidFill>
            <a:srgbClr val="EAF7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0" y="2011680"/>
            <a:ext cx="2651760" cy="502920"/>
          </a:xfrm>
          <a:prstGeom prst="roundRect">
            <a:avLst>
              <a:gd name="adj" fmla="val 21818"/>
            </a:avLst>
          </a:prstGeom>
          <a:solidFill>
            <a:srgbClr val="0E9F9F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20116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Ramesh ko 500 udhaar likho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498080" y="269748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0" y="278892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 gaya. Ramesh ke naam 500 rupaye udhaar likh diya. Ab unka balance 500 rupaye hai.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595360" y="4251960"/>
            <a:ext cx="2468880" cy="457200"/>
          </a:xfrm>
          <a:prstGeom prst="roundRect">
            <a:avLst>
              <a:gd name="adj" fmla="val 24000"/>
            </a:avLst>
          </a:prstGeom>
          <a:solidFill>
            <a:srgbClr val="0E9F9F"/>
          </a:solidFill>
          <a:ln/>
        </p:spPr>
      </p:sp>
      <p:sp>
        <p:nvSpPr>
          <p:cNvPr id="10" name="Text 8"/>
          <p:cNvSpPr/>
          <p:nvPr/>
        </p:nvSpPr>
        <p:spPr>
          <a:xfrm>
            <a:off x="8595360" y="4251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Rahul kitna baaki hai?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98080" y="4892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+ Text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Feature:Call &amp; Payment Reminders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E9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it once, act on it later.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5271516" cy="1371600"/>
          </a:xfrm>
          <a:prstGeom prst="roundRect">
            <a:avLst>
              <a:gd name="adj" fmla="val 6000"/>
            </a:avLst>
          </a:prstGeom>
          <a:solidFill>
            <a:srgbClr val="EAF7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313432"/>
            <a:ext cx="457200" cy="457200"/>
          </a:xfrm>
          <a:prstGeom prst="ellipse">
            <a:avLst/>
          </a:prstGeom>
          <a:solidFill>
            <a:srgbClr val="0E9F9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313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08760" y="2313432"/>
            <a:ext cx="41742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36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Created by voice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807208"/>
            <a:ext cx="47228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"kal Rahul ko 5000 ke payment ke liye call karna" is captured as a proper reminder.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77356" y="2057400"/>
            <a:ext cx="5271516" cy="1371600"/>
          </a:xfrm>
          <a:prstGeom prst="roundRect">
            <a:avLst>
              <a:gd name="adj" fmla="val 6000"/>
            </a:avLst>
          </a:prstGeom>
          <a:solidFill>
            <a:srgbClr val="EAF7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51676" y="2313432"/>
            <a:ext cx="457200" cy="457200"/>
          </a:xfrm>
          <a:prstGeom prst="ellipse">
            <a:avLst/>
          </a:prstGeom>
          <a:solidFill>
            <a:srgbClr val="0E9F9F"/>
          </a:solidFill>
          <a:ln/>
        </p:spPr>
      </p:sp>
      <p:sp>
        <p:nvSpPr>
          <p:cNvPr id="11" name="Text 9"/>
          <p:cNvSpPr/>
          <p:nvPr/>
        </p:nvSpPr>
        <p:spPr>
          <a:xfrm>
            <a:off x="6551676" y="2313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46036" y="2313432"/>
            <a:ext cx="41742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36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Smart details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51676" y="2807208"/>
            <a:ext cx="47228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picks up the name, amount, date and time on its own and stores them.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657600"/>
            <a:ext cx="5271516" cy="1371600"/>
          </a:xfrm>
          <a:prstGeom prst="roundRect">
            <a:avLst>
              <a:gd name="adj" fmla="val 6000"/>
            </a:avLst>
          </a:prstGeom>
          <a:solidFill>
            <a:srgbClr val="EAF7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3913632"/>
            <a:ext cx="457200" cy="457200"/>
          </a:xfrm>
          <a:prstGeom prst="ellipse">
            <a:avLst/>
          </a:prstGeom>
          <a:solidFill>
            <a:srgbClr val="0E9F9F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913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913632"/>
            <a:ext cx="41742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36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One-tap actions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4407408"/>
            <a:ext cx="47228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reminder shows a WhatsApp button and a click-to-call button.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77356" y="3657600"/>
            <a:ext cx="5271516" cy="1371600"/>
          </a:xfrm>
          <a:prstGeom prst="roundRect">
            <a:avLst>
              <a:gd name="adj" fmla="val 6000"/>
            </a:avLst>
          </a:prstGeom>
          <a:solidFill>
            <a:srgbClr val="EAF7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51676" y="3913632"/>
            <a:ext cx="457200" cy="457200"/>
          </a:xfrm>
          <a:prstGeom prst="ellipse">
            <a:avLst/>
          </a:prstGeom>
          <a:solidFill>
            <a:srgbClr val="0E9F9F"/>
          </a:solidFill>
          <a:ln/>
        </p:spPr>
      </p:sp>
      <p:sp>
        <p:nvSpPr>
          <p:cNvPr id="21" name="Text 19"/>
          <p:cNvSpPr/>
          <p:nvPr/>
        </p:nvSpPr>
        <p:spPr>
          <a:xfrm>
            <a:off x="6551676" y="3913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146036" y="3913632"/>
            <a:ext cx="41742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36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Ready for the future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51676" y="4407408"/>
            <a:ext cx="47228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so a person or an automated caller can follow up later.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Feature:Business Knowledge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E9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grounded in official reference notes, not guesses.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487168" cy="960120"/>
          </a:xfrm>
          <a:prstGeom prst="roundRect">
            <a:avLst>
              <a:gd name="adj" fmla="val 8571"/>
            </a:avLst>
          </a:prstGeom>
          <a:solidFill>
            <a:srgbClr val="EAF7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148840"/>
            <a:ext cx="22128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6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3447288" y="2148840"/>
            <a:ext cx="2487168" cy="960120"/>
          </a:xfrm>
          <a:prstGeom prst="roundRect">
            <a:avLst>
              <a:gd name="adj" fmla="val 8571"/>
            </a:avLst>
          </a:prstGeom>
          <a:solidFill>
            <a:srgbClr val="EAF7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584448" y="2148840"/>
            <a:ext cx="22128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6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Tax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54496" y="2148840"/>
            <a:ext cx="2487168" cy="960120"/>
          </a:xfrm>
          <a:prstGeom prst="roundRect">
            <a:avLst>
              <a:gd name="adj" fmla="val 8571"/>
            </a:avLst>
          </a:prstGeom>
          <a:solidFill>
            <a:srgbClr val="EAF7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91656" y="2148840"/>
            <a:ext cx="22128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6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MSME / Udyam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9061704" y="2148840"/>
            <a:ext cx="2487168" cy="960120"/>
          </a:xfrm>
          <a:prstGeom prst="roundRect">
            <a:avLst>
              <a:gd name="adj" fmla="val 8571"/>
            </a:avLst>
          </a:prstGeom>
          <a:solidFill>
            <a:srgbClr val="EAF7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98864" y="2148840"/>
            <a:ext cx="22128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6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MUDRA Loans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3383280"/>
            <a:ext cx="2487168" cy="960120"/>
          </a:xfrm>
          <a:prstGeom prst="roundRect">
            <a:avLst>
              <a:gd name="adj" fmla="val 8571"/>
            </a:avLst>
          </a:prstGeom>
          <a:solidFill>
            <a:srgbClr val="EAF7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3383280"/>
            <a:ext cx="22128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6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FSSAI Licence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3447288" y="3383280"/>
            <a:ext cx="2487168" cy="960120"/>
          </a:xfrm>
          <a:prstGeom prst="roundRect">
            <a:avLst>
              <a:gd name="adj" fmla="val 8571"/>
            </a:avLst>
          </a:prstGeom>
          <a:solidFill>
            <a:srgbClr val="EAF7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584448" y="3383280"/>
            <a:ext cx="22128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6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Limits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254496" y="3383280"/>
            <a:ext cx="2487168" cy="960120"/>
          </a:xfrm>
          <a:prstGeom prst="roundRect">
            <a:avLst>
              <a:gd name="adj" fmla="val 8571"/>
            </a:avLst>
          </a:prstGeom>
          <a:solidFill>
            <a:srgbClr val="EAF7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91656" y="3383280"/>
            <a:ext cx="22128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6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SVANidhi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9061704" y="3383280"/>
            <a:ext cx="2487168" cy="960120"/>
          </a:xfrm>
          <a:prstGeom prst="roundRect">
            <a:avLst>
              <a:gd name="adj" fmla="val 8571"/>
            </a:avLst>
          </a:prstGeom>
          <a:solidFill>
            <a:srgbClr val="EAF7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198864" y="3383280"/>
            <a:ext cx="22128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6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&amp; Business Tips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" y="507492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assistant finds the most relevant note and answers from it, so the information stays reliable.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3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New Web App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Rebuilt to match the real nestdukanbook.com product.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6583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E4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HTML, CSS and JavaScript with the DukanBook teal brand theme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E4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/ Suppliers tabs, the 'you will get / you will give' summary, search and add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E4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sits in the centre of the bottom navigation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E4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Served by the same backend, so it shares one database with the assistant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595360" y="1920240"/>
            <a:ext cx="2468880" cy="4297680"/>
          </a:xfrm>
          <a:prstGeom prst="roundRect">
            <a:avLst>
              <a:gd name="adj" fmla="val 8148"/>
            </a:avLst>
          </a:prstGeom>
          <a:solidFill>
            <a:srgbClr val="000000"/>
          </a:solidFill>
          <a:ln/>
        </p:spPr>
      </p:sp>
      <p:sp>
        <p:nvSpPr>
          <p:cNvPr id="6" name="Shape 4"/>
          <p:cNvSpPr/>
          <p:nvPr/>
        </p:nvSpPr>
        <p:spPr>
          <a:xfrm>
            <a:off x="8705088" y="2029968"/>
            <a:ext cx="2249424" cy="4078224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8705088" y="2029968"/>
            <a:ext cx="2249424" cy="685800"/>
          </a:xfrm>
          <a:prstGeom prst="roundRect">
            <a:avLst>
              <a:gd name="adj" fmla="val 21333"/>
            </a:avLst>
          </a:prstGeom>
          <a:solidFill>
            <a:srgbClr val="0E9F9F"/>
          </a:solidFill>
          <a:ln/>
        </p:spPr>
      </p:sp>
      <p:sp>
        <p:nvSpPr>
          <p:cNvPr id="8" name="Text 6"/>
          <p:cNvSpPr/>
          <p:nvPr/>
        </p:nvSpPr>
        <p:spPr>
          <a:xfrm>
            <a:off x="8705088" y="2029968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36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DukanBook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705088" y="5577840"/>
            <a:ext cx="2249424" cy="530352"/>
          </a:xfrm>
          <a:prstGeom prst="roundRect">
            <a:avLst>
              <a:gd name="adj" fmla="val 17241"/>
            </a:avLst>
          </a:prstGeom>
          <a:solidFill>
            <a:srgbClr val="0E9F9F"/>
          </a:solidFill>
          <a:ln/>
        </p:spPr>
      </p:sp>
      <p:sp>
        <p:nvSpPr>
          <p:cNvPr id="10" name="Shape 8"/>
          <p:cNvSpPr/>
          <p:nvPr/>
        </p:nvSpPr>
        <p:spPr>
          <a:xfrm>
            <a:off x="9537192" y="5321808"/>
            <a:ext cx="585216" cy="58521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E9F9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37192" y="532180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9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We Built This Week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365760" cy="365760"/>
          </a:xfrm>
          <a:prstGeom prst="ellipse">
            <a:avLst/>
          </a:prstGeom>
          <a:solidFill>
            <a:srgbClr val="2FD4C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363A"/>
                </a:solidFill>
              </a:rPr>
              <a:t>✓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43000" y="1737360"/>
            <a:ext cx="46771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the DukanBook logo, tagline and teal colour theme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23076" y="1828800"/>
            <a:ext cx="365760" cy="365760"/>
          </a:xfrm>
          <a:prstGeom prst="ellipse">
            <a:avLst/>
          </a:prstGeom>
          <a:solidFill>
            <a:srgbClr val="2FD4C4"/>
          </a:solidFill>
          <a:ln/>
        </p:spPr>
      </p:sp>
      <p:sp>
        <p:nvSpPr>
          <p:cNvPr id="7" name="Text 5"/>
          <p:cNvSpPr/>
          <p:nvPr/>
        </p:nvSpPr>
        <p:spPr>
          <a:xfrm>
            <a:off x="6323076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363A"/>
                </a:solidFill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25996" y="1737360"/>
            <a:ext cx="46771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the exact HTML / CSS / JavaScript replica of the product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365760" cy="365760"/>
          </a:xfrm>
          <a:prstGeom prst="ellipse">
            <a:avLst/>
          </a:prstGeom>
          <a:solidFill>
            <a:srgbClr val="2FD4C4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363A"/>
                </a:solidFill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2697480"/>
            <a:ext cx="46771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ledger, account detail, add-entry, search and create-account screens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23076" y="2788920"/>
            <a:ext cx="365760" cy="365760"/>
          </a:xfrm>
          <a:prstGeom prst="ellipse">
            <a:avLst/>
          </a:prstGeom>
          <a:solidFill>
            <a:srgbClr val="2FD4C4"/>
          </a:solidFill>
          <a:ln/>
        </p:spPr>
      </p:sp>
      <p:sp>
        <p:nvSpPr>
          <p:cNvPr id="13" name="Text 11"/>
          <p:cNvSpPr/>
          <p:nvPr/>
        </p:nvSpPr>
        <p:spPr>
          <a:xfrm>
            <a:off x="6323076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363A"/>
                </a:solidFill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25996" y="2697480"/>
            <a:ext cx="46771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Carried the voice feature into the new web assistant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749040"/>
            <a:ext cx="365760" cy="365760"/>
          </a:xfrm>
          <a:prstGeom prst="ellipse">
            <a:avLst/>
          </a:prstGeom>
          <a:solidFill>
            <a:srgbClr val="2FD4C4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363A"/>
                </a:solidFill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3657600"/>
            <a:ext cx="46771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 the AI chatbot at the centre of the bottom navigation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23076" y="3749040"/>
            <a:ext cx="365760" cy="365760"/>
          </a:xfrm>
          <a:prstGeom prst="ellipse">
            <a:avLst/>
          </a:prstGeom>
          <a:solidFill>
            <a:srgbClr val="2FD4C4"/>
          </a:solidFill>
          <a:ln/>
        </p:spPr>
      </p:sp>
      <p:sp>
        <p:nvSpPr>
          <p:cNvPr id="19" name="Text 17"/>
          <p:cNvSpPr/>
          <p:nvPr/>
        </p:nvSpPr>
        <p:spPr>
          <a:xfrm>
            <a:off x="6323076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363A"/>
                </a:solidFill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25996" y="3657600"/>
            <a:ext cx="46771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&amp; payment reminders with WhatsApp and click-to-call links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4709160"/>
            <a:ext cx="365760" cy="365760"/>
          </a:xfrm>
          <a:prstGeom prst="ellipse">
            <a:avLst/>
          </a:prstGeom>
          <a:solidFill>
            <a:srgbClr val="2FD4C4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709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363A"/>
                </a:solidFill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4617720"/>
            <a:ext cx="46771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number now visible and editable on every account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23076" y="4709160"/>
            <a:ext cx="365760" cy="365760"/>
          </a:xfrm>
          <a:prstGeom prst="ellipse">
            <a:avLst/>
          </a:prstGeom>
          <a:solidFill>
            <a:srgbClr val="2FD4C4"/>
          </a:solidFill>
          <a:ln/>
        </p:spPr>
      </p:sp>
      <p:sp>
        <p:nvSpPr>
          <p:cNvPr id="25" name="Text 23"/>
          <p:cNvSpPr/>
          <p:nvPr/>
        </p:nvSpPr>
        <p:spPr>
          <a:xfrm>
            <a:off x="6323076" y="4709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363A"/>
                </a:solidFill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25996" y="4617720"/>
            <a:ext cx="46771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saved to the database and covered by automated tests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2194560"/>
            <a:ext cx="2384298" cy="2194560"/>
          </a:xfrm>
          <a:prstGeom prst="roundRect">
            <a:avLst>
              <a:gd name="adj" fmla="val 3750"/>
            </a:avLst>
          </a:prstGeom>
          <a:solidFill>
            <a:srgbClr val="EAF7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539621" y="2514600"/>
            <a:ext cx="585216" cy="585216"/>
          </a:xfrm>
          <a:prstGeom prst="ellipse">
            <a:avLst/>
          </a:prstGeom>
          <a:solidFill>
            <a:srgbClr val="0E9F9F"/>
          </a:solidFill>
          <a:ln/>
        </p:spPr>
      </p:sp>
      <p:sp>
        <p:nvSpPr>
          <p:cNvPr id="5" name="Text 3"/>
          <p:cNvSpPr/>
          <p:nvPr/>
        </p:nvSpPr>
        <p:spPr>
          <a:xfrm>
            <a:off x="1539621" y="25146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2018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636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You speak or type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22960" y="3749040"/>
            <a:ext cx="2018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Hindi, English or Hinglish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070098" y="30175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3481578" y="2194560"/>
            <a:ext cx="2384298" cy="2194560"/>
          </a:xfrm>
          <a:prstGeom prst="roundRect">
            <a:avLst>
              <a:gd name="adj" fmla="val 3750"/>
            </a:avLst>
          </a:prstGeom>
          <a:solidFill>
            <a:srgbClr val="EAF7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1119" y="2514600"/>
            <a:ext cx="585216" cy="585216"/>
          </a:xfrm>
          <a:prstGeom prst="ellipse">
            <a:avLst/>
          </a:prstGeom>
          <a:solidFill>
            <a:srgbClr val="0E9F9F"/>
          </a:solidFill>
          <a:ln/>
        </p:spPr>
      </p:sp>
      <p:sp>
        <p:nvSpPr>
          <p:cNvPr id="11" name="Text 9"/>
          <p:cNvSpPr/>
          <p:nvPr/>
        </p:nvSpPr>
        <p:spPr>
          <a:xfrm>
            <a:off x="4381119" y="25146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64458" y="3246120"/>
            <a:ext cx="2018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636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AI understands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3664458" y="3749040"/>
            <a:ext cx="2018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figures out what you need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911596" y="30175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6323076" y="2194560"/>
            <a:ext cx="2384298" cy="2194560"/>
          </a:xfrm>
          <a:prstGeom prst="roundRect">
            <a:avLst>
              <a:gd name="adj" fmla="val 3750"/>
            </a:avLst>
          </a:prstGeom>
          <a:solidFill>
            <a:srgbClr val="EAF7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222617" y="2514600"/>
            <a:ext cx="585216" cy="585216"/>
          </a:xfrm>
          <a:prstGeom prst="ellipse">
            <a:avLst/>
          </a:prstGeom>
          <a:solidFill>
            <a:srgbClr val="0E9F9F"/>
          </a:solidFill>
          <a:ln/>
        </p:spPr>
      </p:sp>
      <p:sp>
        <p:nvSpPr>
          <p:cNvPr id="17" name="Text 15"/>
          <p:cNvSpPr/>
          <p:nvPr/>
        </p:nvSpPr>
        <p:spPr>
          <a:xfrm>
            <a:off x="7222617" y="25146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05956" y="3246120"/>
            <a:ext cx="2018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636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It does the job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505956" y="3749040"/>
            <a:ext cx="2018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ledger, reminder or answer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753094" y="30175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9164574" y="2194560"/>
            <a:ext cx="2384298" cy="2194560"/>
          </a:xfrm>
          <a:prstGeom prst="roundRect">
            <a:avLst>
              <a:gd name="adj" fmla="val 3750"/>
            </a:avLst>
          </a:prstGeom>
          <a:solidFill>
            <a:srgbClr val="EAF7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0064115" y="2514600"/>
            <a:ext cx="585216" cy="585216"/>
          </a:xfrm>
          <a:prstGeom prst="ellipse">
            <a:avLst/>
          </a:prstGeom>
          <a:solidFill>
            <a:srgbClr val="0E9F9F"/>
          </a:solidFill>
          <a:ln/>
        </p:spPr>
      </p:sp>
      <p:sp>
        <p:nvSpPr>
          <p:cNvPr id="23" name="Text 21"/>
          <p:cNvSpPr/>
          <p:nvPr/>
        </p:nvSpPr>
        <p:spPr>
          <a:xfrm>
            <a:off x="10064115" y="25146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347454" y="3246120"/>
            <a:ext cx="2018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636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It replies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9347454" y="3749040"/>
            <a:ext cx="2018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language, and saves to the database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0080" y="507492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E9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assistant runs on a local AI model, so it needs no paid key and has no usage limits.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Team &amp; Road Ahead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5225796" cy="2743200"/>
          </a:xfrm>
          <a:prstGeom prst="roundRect">
            <a:avLst>
              <a:gd name="adj" fmla="val 3000"/>
            </a:avLst>
          </a:prstGeom>
          <a:solidFill>
            <a:srgbClr val="EAF7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60120" y="1965960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36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Amaan Khan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0120" y="2468880"/>
            <a:ext cx="45857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brain &amp; tool-calling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input and spoken replies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Ledger, reminders &amp; the web app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23076" y="1737360"/>
            <a:ext cx="5225796" cy="2743200"/>
          </a:xfrm>
          <a:prstGeom prst="roundRect">
            <a:avLst>
              <a:gd name="adj" fmla="val 3000"/>
            </a:avLst>
          </a:prstGeom>
          <a:solidFill>
            <a:srgbClr val="EAF7F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43116" y="1965960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36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Srishti Rathi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643116" y="2468880"/>
            <a:ext cx="45857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engine (retrieval / RAG)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of official notes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accuracy &amp; reminders support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47548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E9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</a:t>
            </a:r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and Bills screens with their own tables, then hosting on nestdukanbook.com with a move to PostgreSQL.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3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E9F9F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11512" y="4480560"/>
            <a:ext cx="3657600" cy="3657600"/>
          </a:xfrm>
          <a:prstGeom prst="ellipse">
            <a:avLst/>
          </a:prstGeom>
          <a:solidFill>
            <a:srgbClr val="2FD4C4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2468880"/>
            <a:ext cx="12188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0" y="356616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2F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DukanBook: aapka digital khata, ab aawaz se.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0" y="429768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F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Amaan Khan  ·  Srishti Rathi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DukanBook AI Assistant</dc:title>
  <dc:subject>PptxGenJS Presentation</dc:subject>
  <dc:creator>Amaan Khan &amp; Srishti Rathi</dc:creator>
  <cp:lastModifiedBy>Amaan Khan &amp; Srishti Rathi</cp:lastModifiedBy>
  <cp:revision>1</cp:revision>
  <dcterms:created xsi:type="dcterms:W3CDTF">2026-07-02T12:46:41Z</dcterms:created>
  <dcterms:modified xsi:type="dcterms:W3CDTF">2026-07-02T12:46:41Z</dcterms:modified>
</cp:coreProperties>
</file>